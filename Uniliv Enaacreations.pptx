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8" r:id="rId3"/>
    <p:sldId id="259" r:id="rId4"/>
    <p:sldId id="262" r:id="rId5"/>
    <p:sldId id="263" r:id="rId6"/>
    <p:sldId id="270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-390" y="-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89CDE9-B2B6-43CD-AE09-9A8BEA2C558E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F6D770-B48D-4BC0-A8D9-7FFA53E49F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46098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0" y="0"/>
            <a:ext cx="3931920" cy="68580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95360" y="1371600"/>
            <a:ext cx="3291840" cy="3840480"/>
          </a:xfrm>
          <a:prstGeom prst="rect">
            <a:avLst/>
          </a:prstGeom>
          <a:solidFill>
            <a:srgbClr val="0E7FC0">
              <a:alpha val="65000"/>
            </a:srgbClr>
          </a:solidFill>
          <a:ln w="12700">
            <a:solidFill>
              <a:srgbClr val="0E7FC0">
                <a:alpha val="6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23960" y="1645920"/>
            <a:ext cx="82296" cy="82296"/>
          </a:xfrm>
          <a:prstGeom prst="ellipse">
            <a:avLst/>
          </a:prstGeom>
          <a:solidFill>
            <a:srgbClr val="00C9A7">
              <a:alpha val="55000"/>
            </a:srgbClr>
          </a:solidFill>
          <a:ln w="12700">
            <a:solidFill>
              <a:srgbClr val="00C9A7">
                <a:alpha val="5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26880" y="1645920"/>
            <a:ext cx="82296" cy="82296"/>
          </a:xfrm>
          <a:prstGeom prst="ellipse">
            <a:avLst/>
          </a:prstGeom>
          <a:solidFill>
            <a:srgbClr val="00C9A7">
              <a:alpha val="55000"/>
            </a:srgbClr>
          </a:solidFill>
          <a:ln w="12700">
            <a:solidFill>
              <a:srgbClr val="00C9A7">
                <a:alpha val="5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829800" y="1645920"/>
            <a:ext cx="82296" cy="82296"/>
          </a:xfrm>
          <a:prstGeom prst="ellipse">
            <a:avLst/>
          </a:prstGeom>
          <a:solidFill>
            <a:srgbClr val="00C9A7">
              <a:alpha val="55000"/>
            </a:srgbClr>
          </a:solidFill>
          <a:ln w="12700">
            <a:solidFill>
              <a:srgbClr val="00C9A7">
                <a:alpha val="5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332720" y="1645920"/>
            <a:ext cx="82296" cy="82296"/>
          </a:xfrm>
          <a:prstGeom prst="ellipse">
            <a:avLst/>
          </a:prstGeom>
          <a:solidFill>
            <a:srgbClr val="00C9A7">
              <a:alpha val="55000"/>
            </a:srgbClr>
          </a:solidFill>
          <a:ln w="12700">
            <a:solidFill>
              <a:srgbClr val="00C9A7">
                <a:alpha val="5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835640" y="1645920"/>
            <a:ext cx="82296" cy="82296"/>
          </a:xfrm>
          <a:prstGeom prst="ellipse">
            <a:avLst/>
          </a:prstGeom>
          <a:solidFill>
            <a:srgbClr val="00C9A7">
              <a:alpha val="55000"/>
            </a:srgbClr>
          </a:solidFill>
          <a:ln w="12700">
            <a:solidFill>
              <a:srgbClr val="00C9A7">
                <a:alpha val="5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23960" y="2286000"/>
            <a:ext cx="82296" cy="82296"/>
          </a:xfrm>
          <a:prstGeom prst="ellipse">
            <a:avLst/>
          </a:prstGeom>
          <a:solidFill>
            <a:srgbClr val="00C9A7">
              <a:alpha val="55000"/>
            </a:srgbClr>
          </a:solidFill>
          <a:ln w="12700">
            <a:solidFill>
              <a:srgbClr val="00C9A7">
                <a:alpha val="5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326880" y="2286000"/>
            <a:ext cx="82296" cy="82296"/>
          </a:xfrm>
          <a:prstGeom prst="ellipse">
            <a:avLst/>
          </a:prstGeom>
          <a:solidFill>
            <a:srgbClr val="00C9A7">
              <a:alpha val="55000"/>
            </a:srgbClr>
          </a:solidFill>
          <a:ln w="12700">
            <a:solidFill>
              <a:srgbClr val="00C9A7">
                <a:alpha val="5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29800" y="2286000"/>
            <a:ext cx="82296" cy="82296"/>
          </a:xfrm>
          <a:prstGeom prst="ellipse">
            <a:avLst/>
          </a:prstGeom>
          <a:solidFill>
            <a:srgbClr val="00C9A7">
              <a:alpha val="55000"/>
            </a:srgbClr>
          </a:solidFill>
          <a:ln w="12700">
            <a:solidFill>
              <a:srgbClr val="00C9A7">
                <a:alpha val="5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332720" y="2286000"/>
            <a:ext cx="82296" cy="82296"/>
          </a:xfrm>
          <a:prstGeom prst="ellipse">
            <a:avLst/>
          </a:prstGeom>
          <a:solidFill>
            <a:srgbClr val="00C9A7">
              <a:alpha val="55000"/>
            </a:srgbClr>
          </a:solidFill>
          <a:ln w="12700">
            <a:solidFill>
              <a:srgbClr val="00C9A7">
                <a:alpha val="5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835640" y="2286000"/>
            <a:ext cx="82296" cy="82296"/>
          </a:xfrm>
          <a:prstGeom prst="ellipse">
            <a:avLst/>
          </a:prstGeom>
          <a:solidFill>
            <a:srgbClr val="00C9A7">
              <a:alpha val="55000"/>
            </a:srgbClr>
          </a:solidFill>
          <a:ln w="12700">
            <a:solidFill>
              <a:srgbClr val="00C9A7">
                <a:alpha val="5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823960" y="2926080"/>
            <a:ext cx="82296" cy="82296"/>
          </a:xfrm>
          <a:prstGeom prst="ellipse">
            <a:avLst/>
          </a:prstGeom>
          <a:solidFill>
            <a:srgbClr val="00C9A7">
              <a:alpha val="55000"/>
            </a:srgbClr>
          </a:solidFill>
          <a:ln w="12700">
            <a:solidFill>
              <a:srgbClr val="00C9A7">
                <a:alpha val="5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326880" y="2926080"/>
            <a:ext cx="82296" cy="82296"/>
          </a:xfrm>
          <a:prstGeom prst="ellipse">
            <a:avLst/>
          </a:prstGeom>
          <a:solidFill>
            <a:srgbClr val="00C9A7">
              <a:alpha val="55000"/>
            </a:srgbClr>
          </a:solidFill>
          <a:ln w="12700">
            <a:solidFill>
              <a:srgbClr val="00C9A7">
                <a:alpha val="5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829800" y="2926080"/>
            <a:ext cx="82296" cy="82296"/>
          </a:xfrm>
          <a:prstGeom prst="ellipse">
            <a:avLst/>
          </a:prstGeom>
          <a:solidFill>
            <a:srgbClr val="00C9A7">
              <a:alpha val="55000"/>
            </a:srgbClr>
          </a:solidFill>
          <a:ln w="12700">
            <a:solidFill>
              <a:srgbClr val="00C9A7">
                <a:alpha val="5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332720" y="2926080"/>
            <a:ext cx="82296" cy="82296"/>
          </a:xfrm>
          <a:prstGeom prst="ellipse">
            <a:avLst/>
          </a:prstGeom>
          <a:solidFill>
            <a:srgbClr val="00C9A7">
              <a:alpha val="55000"/>
            </a:srgbClr>
          </a:solidFill>
          <a:ln w="12700">
            <a:solidFill>
              <a:srgbClr val="00C9A7">
                <a:alpha val="5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835640" y="2926080"/>
            <a:ext cx="82296" cy="82296"/>
          </a:xfrm>
          <a:prstGeom prst="ellipse">
            <a:avLst/>
          </a:prstGeom>
          <a:solidFill>
            <a:srgbClr val="00C9A7">
              <a:alpha val="55000"/>
            </a:srgbClr>
          </a:solidFill>
          <a:ln w="12700">
            <a:solidFill>
              <a:srgbClr val="00C9A7">
                <a:alpha val="5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823960" y="3566160"/>
            <a:ext cx="82296" cy="82296"/>
          </a:xfrm>
          <a:prstGeom prst="ellipse">
            <a:avLst/>
          </a:prstGeom>
          <a:solidFill>
            <a:srgbClr val="00C9A7">
              <a:alpha val="55000"/>
            </a:srgbClr>
          </a:solidFill>
          <a:ln w="12700">
            <a:solidFill>
              <a:srgbClr val="00C9A7">
                <a:alpha val="5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326880" y="3566160"/>
            <a:ext cx="82296" cy="82296"/>
          </a:xfrm>
          <a:prstGeom prst="ellipse">
            <a:avLst/>
          </a:prstGeom>
          <a:solidFill>
            <a:srgbClr val="00C9A7">
              <a:alpha val="55000"/>
            </a:srgbClr>
          </a:solidFill>
          <a:ln w="12700">
            <a:solidFill>
              <a:srgbClr val="00C9A7">
                <a:alpha val="5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829800" y="3566160"/>
            <a:ext cx="82296" cy="82296"/>
          </a:xfrm>
          <a:prstGeom prst="ellipse">
            <a:avLst/>
          </a:prstGeom>
          <a:solidFill>
            <a:srgbClr val="00C9A7">
              <a:alpha val="55000"/>
            </a:srgbClr>
          </a:solidFill>
          <a:ln w="12700">
            <a:solidFill>
              <a:srgbClr val="00C9A7">
                <a:alpha val="5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332720" y="3566160"/>
            <a:ext cx="82296" cy="82296"/>
          </a:xfrm>
          <a:prstGeom prst="ellipse">
            <a:avLst/>
          </a:prstGeom>
          <a:solidFill>
            <a:srgbClr val="00C9A7">
              <a:alpha val="55000"/>
            </a:srgbClr>
          </a:solidFill>
          <a:ln w="12700">
            <a:solidFill>
              <a:srgbClr val="00C9A7">
                <a:alpha val="5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835640" y="3566160"/>
            <a:ext cx="82296" cy="82296"/>
          </a:xfrm>
          <a:prstGeom prst="ellipse">
            <a:avLst/>
          </a:prstGeom>
          <a:solidFill>
            <a:srgbClr val="00C9A7">
              <a:alpha val="55000"/>
            </a:srgbClr>
          </a:solidFill>
          <a:ln w="12700">
            <a:solidFill>
              <a:srgbClr val="00C9A7">
                <a:alpha val="5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823960" y="4206240"/>
            <a:ext cx="82296" cy="82296"/>
          </a:xfrm>
          <a:prstGeom prst="ellipse">
            <a:avLst/>
          </a:prstGeom>
          <a:solidFill>
            <a:srgbClr val="00C9A7">
              <a:alpha val="55000"/>
            </a:srgbClr>
          </a:solidFill>
          <a:ln w="12700">
            <a:solidFill>
              <a:srgbClr val="00C9A7">
                <a:alpha val="5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326880" y="4206240"/>
            <a:ext cx="82296" cy="82296"/>
          </a:xfrm>
          <a:prstGeom prst="ellipse">
            <a:avLst/>
          </a:prstGeom>
          <a:solidFill>
            <a:srgbClr val="00C9A7">
              <a:alpha val="55000"/>
            </a:srgbClr>
          </a:solidFill>
          <a:ln w="12700">
            <a:solidFill>
              <a:srgbClr val="00C9A7">
                <a:alpha val="5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829800" y="4206240"/>
            <a:ext cx="82296" cy="82296"/>
          </a:xfrm>
          <a:prstGeom prst="ellipse">
            <a:avLst/>
          </a:prstGeom>
          <a:solidFill>
            <a:srgbClr val="00C9A7">
              <a:alpha val="55000"/>
            </a:srgbClr>
          </a:solidFill>
          <a:ln w="12700">
            <a:solidFill>
              <a:srgbClr val="00C9A7">
                <a:alpha val="5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332720" y="4206240"/>
            <a:ext cx="82296" cy="82296"/>
          </a:xfrm>
          <a:prstGeom prst="ellipse">
            <a:avLst/>
          </a:prstGeom>
          <a:solidFill>
            <a:srgbClr val="00C9A7">
              <a:alpha val="55000"/>
            </a:srgbClr>
          </a:solidFill>
          <a:ln w="12700">
            <a:solidFill>
              <a:srgbClr val="00C9A7">
                <a:alpha val="5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835640" y="4206240"/>
            <a:ext cx="82296" cy="82296"/>
          </a:xfrm>
          <a:prstGeom prst="ellipse">
            <a:avLst/>
          </a:prstGeom>
          <a:solidFill>
            <a:srgbClr val="00C9A7">
              <a:alpha val="55000"/>
            </a:srgbClr>
          </a:solidFill>
          <a:ln w="12700">
            <a:solidFill>
              <a:srgbClr val="00C9A7">
                <a:alpha val="5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" y="868680"/>
            <a:ext cx="1554480" cy="38404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86868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UNILIV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20040" y="1417320"/>
            <a:ext cx="7589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Digital Management</a:t>
            </a:r>
            <a:endParaRPr lang="en-US" sz="3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for Residents</a:t>
            </a:r>
            <a:endParaRPr lang="en-US" sz="3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Employees</a:t>
            </a:r>
            <a:endParaRPr lang="en-US" sz="3800" dirty="0"/>
          </a:p>
        </p:txBody>
      </p:sp>
      <p:sp>
        <p:nvSpPr>
          <p:cNvPr id="33" name="Shape 31"/>
          <p:cNvSpPr/>
          <p:nvPr/>
        </p:nvSpPr>
        <p:spPr>
          <a:xfrm>
            <a:off x="320040" y="3364992"/>
            <a:ext cx="438912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" y="3493008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· Cloud-Native · AI-Powered · Resident-First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320040" y="4023360"/>
            <a:ext cx="7589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collaboration between Uniliv's deep domain expertise and</a:t>
            </a: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Enacreations' cutting-edge technology to deliver a Data-Driven,</a:t>
            </a: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Resident-First Digital Platform.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20040" y="5257800"/>
            <a:ext cx="1783080" cy="1143000"/>
          </a:xfrm>
          <a:prstGeom prst="rect">
            <a:avLst/>
          </a:prstGeom>
          <a:solidFill>
            <a:srgbClr val="1A3A5C"/>
          </a:solidFill>
          <a:ln w="12700">
            <a:solidFill>
              <a:srgbClr val="0E7FC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5303520"/>
            <a:ext cx="1783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C9A7"/>
                </a:solidFill>
              </a:rPr>
              <a:t>10+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320040" y="5870448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 smtClean="0">
                <a:solidFill>
                  <a:srgbClr val="AABBCC"/>
                </a:solidFill>
              </a:rPr>
              <a:t>UES - Core </a:t>
            </a:r>
            <a:r>
              <a:rPr lang="en-US" sz="950" dirty="0">
                <a:solidFill>
                  <a:srgbClr val="AABBCC"/>
                </a:solidFill>
              </a:rPr>
              <a:t>Modules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286000" y="5257800"/>
            <a:ext cx="1783080" cy="1143000"/>
          </a:xfrm>
          <a:prstGeom prst="rect">
            <a:avLst/>
          </a:prstGeom>
          <a:solidFill>
            <a:srgbClr val="1A3A5C"/>
          </a:solidFill>
          <a:ln w="12700">
            <a:solidFill>
              <a:srgbClr val="0E7FC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286000" y="5303520"/>
            <a:ext cx="1783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C9A7"/>
                </a:solidFill>
              </a:rPr>
              <a:t>3</a:t>
            </a:r>
            <a:endParaRPr lang="en-US" sz="2400" dirty="0"/>
          </a:p>
        </p:txBody>
      </p:sp>
      <p:sp>
        <p:nvSpPr>
          <p:cNvPr id="41" name="Text 39"/>
          <p:cNvSpPr/>
          <p:nvPr/>
        </p:nvSpPr>
        <p:spPr>
          <a:xfrm>
            <a:off x="2286000" y="5870448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ABBCC"/>
                </a:solidFill>
              </a:rPr>
              <a:t>Phased Delivery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251960" y="5257800"/>
            <a:ext cx="1783080" cy="1143000"/>
          </a:xfrm>
          <a:prstGeom prst="rect">
            <a:avLst/>
          </a:prstGeom>
          <a:solidFill>
            <a:srgbClr val="1A3A5C"/>
          </a:solidFill>
          <a:ln w="12700">
            <a:solidFill>
              <a:srgbClr val="0E7FC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251960" y="5303520"/>
            <a:ext cx="1783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C9A7"/>
                </a:solidFill>
              </a:rPr>
              <a:t>360°</a:t>
            </a:r>
            <a:endParaRPr lang="en-US" sz="2400" dirty="0"/>
          </a:p>
        </p:txBody>
      </p:sp>
      <p:sp>
        <p:nvSpPr>
          <p:cNvPr id="44" name="Text 42"/>
          <p:cNvSpPr/>
          <p:nvPr/>
        </p:nvSpPr>
        <p:spPr>
          <a:xfrm>
            <a:off x="4251960" y="5870448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ABBCC"/>
                </a:solidFill>
              </a:rPr>
              <a:t>Resident Experience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217920" y="5257800"/>
            <a:ext cx="1783080" cy="1143000"/>
          </a:xfrm>
          <a:prstGeom prst="rect">
            <a:avLst/>
          </a:prstGeom>
          <a:solidFill>
            <a:srgbClr val="1A3A5C"/>
          </a:solidFill>
          <a:ln w="12700">
            <a:solidFill>
              <a:srgbClr val="0E7FC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17920" y="5303520"/>
            <a:ext cx="1783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C9A7"/>
                </a:solidFill>
              </a:rPr>
              <a:t>AI</a:t>
            </a:r>
            <a:endParaRPr lang="en-US" sz="2400" dirty="0"/>
          </a:p>
        </p:txBody>
      </p:sp>
      <p:sp>
        <p:nvSpPr>
          <p:cNvPr id="47" name="Text 45"/>
          <p:cNvSpPr/>
          <p:nvPr/>
        </p:nvSpPr>
        <p:spPr>
          <a:xfrm>
            <a:off x="6217920" y="5870448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ABBCC"/>
                </a:solidFill>
              </a:rPr>
              <a:t>Agentic Intelligence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320040" y="6583680"/>
            <a:ext cx="11430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45566"/>
                </a:solidFill>
              </a:rPr>
              <a:t>Confidential — Prepared for Uniliv by Enacreations | </a:t>
            </a:r>
            <a:r>
              <a:rPr lang="en-US" sz="850" dirty="0" smtClean="0">
                <a:solidFill>
                  <a:srgbClr val="445566"/>
                </a:solidFill>
              </a:rPr>
              <a:t>2026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11430000" y="662940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A8D"/>
                </a:solidFill>
              </a:rPr>
              <a:t>1 / 18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9144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OUR UNDERSTANDING OF SCOPE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601200" y="16459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00C9A7"/>
                </a:solidFill>
              </a:rPr>
              <a:t>Uniliv Platform | </a:t>
            </a:r>
            <a:r>
              <a:rPr lang="en-US" sz="900" i="1" dirty="0" smtClean="0">
                <a:solidFill>
                  <a:srgbClr val="00C9A7"/>
                </a:solidFill>
              </a:rPr>
              <a:t>2026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5577840" cy="5577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14400"/>
            <a:ext cx="5577840" cy="45720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932688"/>
            <a:ext cx="5394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⚡  CURRENT CHALLENGES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1508760"/>
            <a:ext cx="5303520" cy="749808"/>
          </a:xfrm>
          <a:prstGeom prst="rect">
            <a:avLst/>
          </a:prstGeom>
          <a:solidFill>
            <a:srgbClr val="FFF5F5"/>
          </a:solidFill>
          <a:ln w="12700">
            <a:solidFill>
              <a:srgbClr val="FFD0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56362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91C1C"/>
                </a:solidFill>
              </a:rPr>
              <a:t>🗂️ Fragmented Systems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1856232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8D"/>
                </a:solidFill>
              </a:rPr>
              <a:t>Operations teams juggling 5–8 disconnected tools — spreadsheets, WhatsApp, manual ledgers with no single source of truth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2395728"/>
            <a:ext cx="5303520" cy="749808"/>
          </a:xfrm>
          <a:prstGeom prst="rect">
            <a:avLst/>
          </a:prstGeom>
          <a:solidFill>
            <a:srgbClr val="FFF5F5"/>
          </a:solidFill>
          <a:ln w="12700">
            <a:solidFill>
              <a:srgbClr val="FFD0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45059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91C1C"/>
                </a:solidFill>
              </a:rPr>
              <a:t>📉 </a:t>
            </a:r>
            <a:r>
              <a:rPr lang="en-US" sz="1100" b="1" dirty="0" smtClean="0">
                <a:solidFill>
                  <a:srgbClr val="B91C1C"/>
                </a:solidFill>
              </a:rPr>
              <a:t>Common </a:t>
            </a:r>
            <a:r>
              <a:rPr lang="en-US" sz="1100" b="1" dirty="0" smtClean="0">
                <a:solidFill>
                  <a:srgbClr val="B91C1C"/>
                </a:solidFill>
              </a:rPr>
              <a:t>Resident </a:t>
            </a:r>
            <a:r>
              <a:rPr lang="en-US" sz="1100" b="1" dirty="0">
                <a:solidFill>
                  <a:srgbClr val="B91C1C"/>
                </a:solidFill>
              </a:rPr>
              <a:t>Experience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274320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 err="1" smtClean="0">
                <a:solidFill>
                  <a:srgbClr val="6B7A8D"/>
                </a:solidFill>
              </a:rPr>
              <a:t>RentOK</a:t>
            </a:r>
            <a:r>
              <a:rPr lang="en-US" sz="1000" dirty="0" smtClean="0">
                <a:solidFill>
                  <a:srgbClr val="6B7A8D"/>
                </a:solidFill>
              </a:rPr>
              <a:t> is a common platform used by multiple partners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3282696"/>
            <a:ext cx="5303520" cy="749808"/>
          </a:xfrm>
          <a:prstGeom prst="rect">
            <a:avLst/>
          </a:prstGeom>
          <a:solidFill>
            <a:srgbClr val="FFF5F5"/>
          </a:solidFill>
          <a:ln w="12700">
            <a:solidFill>
              <a:srgbClr val="FFD0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3375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91C1C"/>
                </a:solidFill>
              </a:rPr>
              <a:t>🏗️ Scaling Pain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3630168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8D"/>
                </a:solidFill>
              </a:rPr>
              <a:t>Every new property requires re-setup of workflows. No standardised procurement, vendor </a:t>
            </a:r>
            <a:r>
              <a:rPr lang="en-US" sz="1000" dirty="0" err="1" smtClean="0">
                <a:solidFill>
                  <a:srgbClr val="6B7A8D"/>
                </a:solidFill>
              </a:rPr>
              <a:t>mgmt</a:t>
            </a:r>
            <a:r>
              <a:rPr lang="en-US" sz="1000" dirty="0" smtClean="0">
                <a:solidFill>
                  <a:srgbClr val="6B7A8D"/>
                </a:solidFill>
              </a:rPr>
              <a:t> and no unified experience software across </a:t>
            </a:r>
            <a:r>
              <a:rPr lang="en-US" sz="1000" dirty="0">
                <a:solidFill>
                  <a:srgbClr val="6B7A8D"/>
                </a:solidFill>
              </a:rPr>
              <a:t>properties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1480" y="4169664"/>
            <a:ext cx="5303520" cy="749808"/>
          </a:xfrm>
          <a:prstGeom prst="rect">
            <a:avLst/>
          </a:prstGeom>
          <a:solidFill>
            <a:srgbClr val="FFF5F5"/>
          </a:solidFill>
          <a:ln w="12700">
            <a:solidFill>
              <a:srgbClr val="FFD0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22452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91C1C"/>
                </a:solidFill>
              </a:rPr>
              <a:t>📊 </a:t>
            </a:r>
            <a:r>
              <a:rPr lang="en-US" sz="1100" b="1" dirty="0" smtClean="0">
                <a:solidFill>
                  <a:srgbClr val="B91C1C"/>
                </a:solidFill>
              </a:rPr>
              <a:t>Zero Data </a:t>
            </a:r>
            <a:r>
              <a:rPr lang="en-US" sz="1100" b="1" dirty="0">
                <a:solidFill>
                  <a:srgbClr val="B91C1C"/>
                </a:solidFill>
              </a:rPr>
              <a:t>Intelligence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4517136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8D"/>
                </a:solidFill>
              </a:rPr>
              <a:t>No resident behavioural data to cross-sell, upsell, predict churn, or personalise the resident journey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1480" y="5056632"/>
            <a:ext cx="5303520" cy="749808"/>
          </a:xfrm>
          <a:prstGeom prst="rect">
            <a:avLst/>
          </a:prstGeom>
          <a:solidFill>
            <a:srgbClr val="FFF5F5"/>
          </a:solidFill>
          <a:ln w="12700">
            <a:solidFill>
              <a:srgbClr val="FFD0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511149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91C1C"/>
                </a:solidFill>
              </a:rPr>
              <a:t>💸 </a:t>
            </a:r>
            <a:r>
              <a:rPr lang="en-US" sz="1100" b="1" dirty="0" smtClean="0">
                <a:solidFill>
                  <a:srgbClr val="B91C1C"/>
                </a:solidFill>
              </a:rPr>
              <a:t>Untapped Revenue stream – Digital wallet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5404104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8D"/>
                </a:solidFill>
              </a:rPr>
              <a:t>No digital wallet means cash handling, delayed collections, no ancillary revenue from laundry, food, or add-on services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72200" y="914400"/>
            <a:ext cx="5669280" cy="5577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72200" y="914400"/>
            <a:ext cx="5669280" cy="45720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0" y="932688"/>
            <a:ext cx="5394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🚀  WHAT WE ARE BUILDING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309360" y="1508760"/>
            <a:ext cx="5303520" cy="749808"/>
          </a:xfrm>
          <a:prstGeom prst="rect">
            <a:avLst/>
          </a:prstGeom>
          <a:solidFill>
            <a:srgbClr val="F0FAF6"/>
          </a:solidFill>
          <a:ln w="12700">
            <a:solidFill>
              <a:srgbClr val="C0EA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46520" y="156362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F46"/>
                </a:solidFill>
              </a:rPr>
              <a:t>📱 Resident App (iOS + Android + Web)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46520" y="1856232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8D"/>
                </a:solidFill>
              </a:rPr>
              <a:t>All-in-one resident app with digital ID, complaints, wallet, menu, community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309360" y="2395728"/>
            <a:ext cx="5303520" cy="749808"/>
          </a:xfrm>
          <a:prstGeom prst="rect">
            <a:avLst/>
          </a:prstGeom>
          <a:solidFill>
            <a:srgbClr val="F0FAF6"/>
          </a:solidFill>
          <a:ln w="12700">
            <a:solidFill>
              <a:srgbClr val="C0EA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46520" y="245059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F46"/>
                </a:solidFill>
              </a:rPr>
              <a:t>🏢 </a:t>
            </a:r>
            <a:r>
              <a:rPr lang="en-US" sz="1100" b="1" dirty="0" smtClean="0">
                <a:solidFill>
                  <a:srgbClr val="065F46"/>
                </a:solidFill>
              </a:rPr>
              <a:t>Staff Web </a:t>
            </a:r>
            <a:r>
              <a:rPr lang="en-US" sz="1100" b="1" dirty="0">
                <a:solidFill>
                  <a:srgbClr val="065F46"/>
                </a:solidFill>
              </a:rPr>
              <a:t>Portal (Web Responsive</a:t>
            </a:r>
            <a:r>
              <a:rPr lang="en-US" sz="1100" b="1" dirty="0" smtClean="0">
                <a:solidFill>
                  <a:srgbClr val="065F46"/>
                </a:solidFill>
              </a:rPr>
              <a:t>) + Windows and Mac Application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46520" y="274320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8D"/>
                </a:solidFill>
              </a:rPr>
              <a:t>Role-based digital workspace for all Uniliv staff personas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309360" y="3282696"/>
            <a:ext cx="5303520" cy="749808"/>
          </a:xfrm>
          <a:prstGeom prst="rect">
            <a:avLst/>
          </a:prstGeom>
          <a:solidFill>
            <a:srgbClr val="F0FAF6"/>
          </a:solidFill>
          <a:ln w="12700">
            <a:solidFill>
              <a:srgbClr val="C0EA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46520" y="33375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F46"/>
                </a:solidFill>
              </a:rPr>
              <a:t>💳 Closed-Loop Digital Wallet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46520" y="3630168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8D"/>
                </a:solidFill>
              </a:rPr>
              <a:t>In-app wallet for rent, food, laundry — embedded into Resident App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309360" y="4169664"/>
            <a:ext cx="5303520" cy="749808"/>
          </a:xfrm>
          <a:prstGeom prst="rect">
            <a:avLst/>
          </a:prstGeom>
          <a:solidFill>
            <a:srgbClr val="F0FAF6"/>
          </a:solidFill>
          <a:ln w="12700">
            <a:solidFill>
              <a:srgbClr val="C0EAD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46520" y="422452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F46"/>
                </a:solidFill>
              </a:rPr>
              <a:t>🧠 </a:t>
            </a:r>
            <a:r>
              <a:rPr lang="en-US" sz="1100" b="1" dirty="0" smtClean="0">
                <a:solidFill>
                  <a:srgbClr val="065F46"/>
                </a:solidFill>
              </a:rPr>
              <a:t>  Agentic </a:t>
            </a:r>
            <a:r>
              <a:rPr lang="en-US" sz="1100" b="1" dirty="0">
                <a:solidFill>
                  <a:srgbClr val="065F46"/>
                </a:solidFill>
              </a:rPr>
              <a:t>AI Engine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46520" y="4517136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8D"/>
                </a:solidFill>
              </a:rPr>
              <a:t>Behaviour analytics, churn </a:t>
            </a:r>
            <a:r>
              <a:rPr lang="en-US" sz="1000" dirty="0" smtClean="0">
                <a:solidFill>
                  <a:srgbClr val="6B7A8D"/>
                </a:solidFill>
              </a:rPr>
              <a:t>prediction, </a:t>
            </a:r>
            <a:r>
              <a:rPr lang="en-US" sz="1000" dirty="0" err="1" smtClean="0">
                <a:solidFill>
                  <a:srgbClr val="6B7A8D"/>
                </a:solidFill>
              </a:rPr>
              <a:t>personalised</a:t>
            </a:r>
            <a:r>
              <a:rPr lang="en-US" sz="1000" dirty="0" smtClean="0">
                <a:solidFill>
                  <a:srgbClr val="6B7A8D"/>
                </a:solidFill>
              </a:rPr>
              <a:t> </a:t>
            </a:r>
            <a:r>
              <a:rPr lang="en-US" sz="1000" dirty="0">
                <a:solidFill>
                  <a:srgbClr val="6B7A8D"/>
                </a:solidFill>
              </a:rPr>
              <a:t>recommendations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309360" y="5056632"/>
            <a:ext cx="5303520" cy="749808"/>
          </a:xfrm>
          <a:prstGeom prst="rect">
            <a:avLst/>
          </a:prstGeom>
          <a:solidFill>
            <a:srgbClr val="F0FAF6"/>
          </a:solidFill>
          <a:ln w="12700">
            <a:solidFill>
              <a:srgbClr val="C0EAD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46520" y="511149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 smtClean="0">
                <a:solidFill>
                  <a:srgbClr val="065F46"/>
                </a:solidFill>
              </a:rPr>
              <a:t>⚙ Dashboard and Reports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446520" y="5404104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 smtClean="0">
                <a:solidFill>
                  <a:srgbClr val="6B7A8D"/>
                </a:solidFill>
              </a:rPr>
              <a:t>Real time dashboards and Reports for Owners and Admin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1430000" y="662940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A8D"/>
                </a:solidFill>
              </a:rPr>
              <a:t>3 / 18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HIGH-LEVEL LAYERED FUNCTIONAL ARCHITECTURE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65760" y="685800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0C9A7"/>
                </a:solidFill>
              </a:rPr>
              <a:t>Resident App (iOS · Android · Web)  |  Employee Web Portal (Web Responsive)  |  Agentic AI  |  Cloud-Native Microservices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28600" y="1078992"/>
            <a:ext cx="11704320" cy="987552"/>
          </a:xfrm>
          <a:prstGeom prst="rect">
            <a:avLst/>
          </a:prstGeom>
          <a:solidFill>
            <a:srgbClr val="1A3A5C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1078992"/>
            <a:ext cx="1828800" cy="987552"/>
          </a:xfrm>
          <a:prstGeom prst="rect">
            <a:avLst/>
          </a:prstGeom>
          <a:solidFill>
            <a:srgbClr val="00C9A7">
              <a:alpha val="22000"/>
            </a:srgbClr>
          </a:solidFill>
          <a:ln w="12700">
            <a:solidFill>
              <a:srgbClr val="00C9A7">
                <a:alpha val="22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1124712"/>
            <a:ext cx="1755648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LAYER 1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USER PERSONAS &amp; CHANNELS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249424" y="1170432"/>
            <a:ext cx="1125855" cy="804672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00C9A7">
                <a:alpha val="4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49424" y="1170432"/>
            <a:ext cx="1125855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🏠 Resident App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(iOS &amp; Android)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466719" y="1170432"/>
            <a:ext cx="1125855" cy="804672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00C9A7">
                <a:alpha val="4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66719" y="1170432"/>
            <a:ext cx="1125855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🌐 Resident Web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(Responsive)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684014" y="1170432"/>
            <a:ext cx="1125855" cy="804672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00C9A7">
                <a:alpha val="4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84014" y="1170432"/>
            <a:ext cx="1125855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👨‍👩‍👧 Parent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 smtClean="0">
                <a:solidFill>
                  <a:srgbClr val="FFFFFF"/>
                </a:solidFill>
              </a:rPr>
              <a:t>Login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901309" y="1170432"/>
            <a:ext cx="1125855" cy="804672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00C9A7">
                <a:alpha val="4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01309" y="1170432"/>
            <a:ext cx="1125855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🛠</a:t>
            </a:r>
            <a:r>
              <a:rPr lang="en-US" sz="800" dirty="0" smtClean="0">
                <a:solidFill>
                  <a:srgbClr val="FFFFFF"/>
                </a:solidFill>
              </a:rPr>
              <a:t>️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Staff (</a:t>
            </a:r>
            <a:r>
              <a:rPr lang="en-US" sz="800" dirty="0" smtClean="0">
                <a:solidFill>
                  <a:srgbClr val="FFFFFF"/>
                </a:solidFill>
              </a:rPr>
              <a:t>Web + Application)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7118604" y="1170432"/>
            <a:ext cx="1125855" cy="804672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00C9A7">
                <a:alpha val="4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18604" y="1170432"/>
            <a:ext cx="1125855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🍳 </a:t>
            </a:r>
            <a:r>
              <a:rPr lang="en-US" sz="800" dirty="0" smtClean="0">
                <a:solidFill>
                  <a:srgbClr val="FFFFFF"/>
                </a:solidFill>
              </a:rPr>
              <a:t>WhatsApp Bot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8335899" y="1170432"/>
            <a:ext cx="1125855" cy="804672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00C9A7">
                <a:alpha val="4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35899" y="1170432"/>
            <a:ext cx="1125855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📦 Vendor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Portal (Web)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9553194" y="1170432"/>
            <a:ext cx="1125855" cy="804672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00C9A7">
                <a:alpha val="4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53194" y="1170432"/>
            <a:ext cx="1125855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🏢 </a:t>
            </a:r>
            <a:r>
              <a:rPr lang="en-US" sz="800" dirty="0" smtClean="0">
                <a:solidFill>
                  <a:srgbClr val="FFFFFF"/>
                </a:solidFill>
              </a:rPr>
              <a:t>Web bot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0770489" y="1170432"/>
            <a:ext cx="1125855" cy="804672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00C9A7">
                <a:alpha val="4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770489" y="1170432"/>
            <a:ext cx="1125855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💼 Management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Dashboard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28600" y="2148840"/>
            <a:ext cx="11704320" cy="822960"/>
          </a:xfrm>
          <a:prstGeom prst="rect">
            <a:avLst/>
          </a:prstGeom>
          <a:solidFill>
            <a:srgbClr val="0E4F72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8600" y="2148840"/>
            <a:ext cx="1828800" cy="822960"/>
          </a:xfrm>
          <a:prstGeom prst="rect">
            <a:avLst/>
          </a:prstGeom>
          <a:solidFill>
            <a:srgbClr val="00A8E8">
              <a:alpha val="22000"/>
            </a:srgbClr>
          </a:solidFill>
          <a:ln w="12700">
            <a:solidFill>
              <a:srgbClr val="00A8E8">
                <a:alpha val="22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6032" y="2194560"/>
            <a:ext cx="175564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LAYER 2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EXPERIENCE LAYER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2249424" y="2240280"/>
            <a:ext cx="1299754" cy="64008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00A8E8">
                <a:alpha val="4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49424" y="2240280"/>
            <a:ext cx="129975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React Native (iOS/Android)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640618" y="2240280"/>
            <a:ext cx="1299754" cy="64008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00A8E8">
                <a:alpha val="4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40618" y="2240280"/>
            <a:ext cx="129975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React PWA (Web)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031813" y="2240280"/>
            <a:ext cx="1299754" cy="64008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00A8E8">
                <a:alpha val="45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31813" y="2240280"/>
            <a:ext cx="129975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Closed-Loop Wallet UI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423007" y="2240280"/>
            <a:ext cx="1299754" cy="64008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00A8E8">
                <a:alpha val="45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23007" y="2240280"/>
            <a:ext cx="129975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Notifications Hub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7814201" y="2240280"/>
            <a:ext cx="1299754" cy="64008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00A8E8">
                <a:alpha val="45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814201" y="2240280"/>
            <a:ext cx="129975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Community &amp; Feed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9205395" y="2240280"/>
            <a:ext cx="1299754" cy="64008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00A8E8">
                <a:alpha val="45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205395" y="2240280"/>
            <a:ext cx="129975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Digital ID &amp; Curfew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10596590" y="2240280"/>
            <a:ext cx="1299754" cy="64008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00A8E8">
                <a:alpha val="45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96590" y="2240280"/>
            <a:ext cx="129975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Analytics Dashboards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228600" y="3063240"/>
            <a:ext cx="11704320" cy="987552"/>
          </a:xfrm>
          <a:prstGeom prst="rect">
            <a:avLst/>
          </a:prstGeom>
          <a:solidFill>
            <a:srgbClr val="006B5F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28600" y="3063240"/>
            <a:ext cx="1828800" cy="987552"/>
          </a:xfrm>
          <a:prstGeom prst="rect">
            <a:avLst/>
          </a:prstGeom>
          <a:solidFill>
            <a:srgbClr val="00C9A7">
              <a:alpha val="22000"/>
            </a:srgbClr>
          </a:solidFill>
          <a:ln w="12700">
            <a:solidFill>
              <a:srgbClr val="00C9A7">
                <a:alpha val="22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56032" y="3108960"/>
            <a:ext cx="1755648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LAYER </a:t>
            </a:r>
            <a:r>
              <a:rPr lang="en-US" sz="750" b="1" dirty="0" smtClean="0">
                <a:solidFill>
                  <a:srgbClr val="FFFFFF"/>
                </a:solidFill>
              </a:rPr>
              <a:t>3 a</a:t>
            </a:r>
            <a:endParaRPr lang="en-US" sz="750" dirty="0"/>
          </a:p>
          <a:p>
            <a:pPr algn="ctr"/>
            <a:r>
              <a:rPr lang="en-US" sz="750" b="1" dirty="0" smtClean="0">
                <a:solidFill>
                  <a:srgbClr val="FFFFFF"/>
                </a:solidFill>
              </a:rPr>
              <a:t>UES</a:t>
            </a:r>
            <a:r>
              <a:rPr lang="en-US" sz="750" dirty="0" smtClean="0"/>
              <a:t> - </a:t>
            </a:r>
            <a:r>
              <a:rPr lang="en-US" sz="750" b="1" dirty="0" smtClean="0">
                <a:solidFill>
                  <a:srgbClr val="FFFFFF"/>
                </a:solidFill>
              </a:rPr>
              <a:t>FUNCTIONAL MODULES</a:t>
            </a:r>
          </a:p>
        </p:txBody>
      </p:sp>
      <p:sp>
        <p:nvSpPr>
          <p:cNvPr id="43" name="Shape 41"/>
          <p:cNvSpPr/>
          <p:nvPr/>
        </p:nvSpPr>
        <p:spPr>
          <a:xfrm>
            <a:off x="2249424" y="3154680"/>
            <a:ext cx="882396" cy="804672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00C9A7">
                <a:alpha val="45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249424" y="3154680"/>
            <a:ext cx="882396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00" dirty="0">
                <a:solidFill>
                  <a:srgbClr val="FFFFFF"/>
                </a:solidFill>
              </a:rPr>
              <a:t>Property </a:t>
            </a:r>
            <a:r>
              <a:rPr lang="en-US" sz="800" dirty="0" err="1">
                <a:solidFill>
                  <a:srgbClr val="FFFFFF"/>
                </a:solidFill>
              </a:rPr>
              <a:t>Acq</a:t>
            </a:r>
            <a:r>
              <a:rPr lang="en-US" sz="800" dirty="0" smtClean="0">
                <a:solidFill>
                  <a:srgbClr val="FFFFFF"/>
                </a:solidFill>
              </a:rPr>
              <a:t>.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3223260" y="3154680"/>
            <a:ext cx="882396" cy="804672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00C9A7">
                <a:alpha val="45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23260" y="3154680"/>
            <a:ext cx="882396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00" dirty="0" smtClean="0">
                <a:solidFill>
                  <a:srgbClr val="FFFFFF"/>
                </a:solidFill>
              </a:rPr>
              <a:t>Projects/Capex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197096" y="3154680"/>
            <a:ext cx="882396" cy="804672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00C9A7">
                <a:alpha val="45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197096" y="3154680"/>
            <a:ext cx="882396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00" dirty="0">
                <a:solidFill>
                  <a:srgbClr val="FFFFFF"/>
                </a:solidFill>
              </a:rPr>
              <a:t>Procurement &amp; Inventory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5170932" y="3154680"/>
            <a:ext cx="882396" cy="804672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00C9A7">
                <a:alpha val="45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170932" y="3154680"/>
            <a:ext cx="882396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00" dirty="0">
                <a:solidFill>
                  <a:srgbClr val="FFFFFF"/>
                </a:solidFill>
              </a:rPr>
              <a:t>Kitchen </a:t>
            </a:r>
            <a:r>
              <a:rPr lang="en-US" sz="800" dirty="0" smtClean="0">
                <a:solidFill>
                  <a:srgbClr val="FFFFFF"/>
                </a:solidFill>
              </a:rPr>
              <a:t>Ops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6144768" y="3154680"/>
            <a:ext cx="882396" cy="804672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00C9A7">
                <a:alpha val="45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144768" y="3154680"/>
            <a:ext cx="882396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00" dirty="0">
                <a:solidFill>
                  <a:srgbClr val="FFFFFF"/>
                </a:solidFill>
              </a:rPr>
              <a:t>Operations &amp; Complaints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7118604" y="3154680"/>
            <a:ext cx="882396" cy="804672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00C9A7">
                <a:alpha val="45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118604" y="3154680"/>
            <a:ext cx="882396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00" dirty="0" smtClean="0">
                <a:solidFill>
                  <a:srgbClr val="FFFFFF"/>
                </a:solidFill>
              </a:rPr>
              <a:t>Finance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8092440" y="3154680"/>
            <a:ext cx="882396" cy="804672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00C9A7">
                <a:alpha val="4500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092440" y="3154680"/>
            <a:ext cx="882396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00" dirty="0">
                <a:solidFill>
                  <a:srgbClr val="FFFFFF"/>
                </a:solidFill>
              </a:rPr>
              <a:t>Digital Wallet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9066276" y="3154680"/>
            <a:ext cx="882396" cy="804672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00C9A7">
                <a:alpha val="4500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066276" y="3154680"/>
            <a:ext cx="882396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00" dirty="0">
                <a:solidFill>
                  <a:srgbClr val="FFFFFF"/>
                </a:solidFill>
              </a:rPr>
              <a:t>Analytics Engine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10040112" y="3154680"/>
            <a:ext cx="882396" cy="804672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00C9A7">
                <a:alpha val="4500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0040112" y="3154680"/>
            <a:ext cx="882396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 smtClean="0">
                <a:solidFill>
                  <a:srgbClr val="FFFFFF"/>
                </a:solidFill>
              </a:rPr>
              <a:t>RBAC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11013948" y="3154680"/>
            <a:ext cx="882396" cy="804672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00C9A7">
                <a:alpha val="4500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1013948" y="3154680"/>
            <a:ext cx="882396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 smtClean="0">
                <a:solidFill>
                  <a:srgbClr val="FFFFFF"/>
                </a:solidFill>
              </a:rPr>
              <a:t>Notification module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228600" y="4160520"/>
            <a:ext cx="11704320" cy="822960"/>
          </a:xfrm>
          <a:prstGeom prst="rect">
            <a:avLst/>
          </a:prstGeom>
          <a:solidFill>
            <a:srgbClr val="2D1B5A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28600" y="4160520"/>
            <a:ext cx="1828800" cy="822960"/>
          </a:xfrm>
          <a:prstGeom prst="rect">
            <a:avLst/>
          </a:prstGeom>
          <a:solidFill>
            <a:srgbClr val="A855F7">
              <a:alpha val="22000"/>
            </a:srgbClr>
          </a:solidFill>
          <a:ln w="12700">
            <a:solidFill>
              <a:srgbClr val="A855F7">
                <a:alpha val="22000"/>
              </a:srgbClr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56032" y="4206240"/>
            <a:ext cx="175564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LAYER </a:t>
            </a:r>
            <a:r>
              <a:rPr lang="en-US" sz="750" b="1" dirty="0" smtClean="0">
                <a:solidFill>
                  <a:srgbClr val="FFFFFF"/>
                </a:solidFill>
              </a:rPr>
              <a:t>3 b</a:t>
            </a:r>
            <a:endParaRPr lang="en-US" sz="750" dirty="0"/>
          </a:p>
          <a:p>
            <a:pPr algn="ctr"/>
            <a:r>
              <a:rPr lang="en-US" sz="750" b="1" dirty="0" smtClean="0">
                <a:solidFill>
                  <a:srgbClr val="FFFFFF"/>
                </a:solidFill>
              </a:rPr>
              <a:t>Resident </a:t>
            </a:r>
            <a:r>
              <a:rPr lang="en-US" sz="750" b="1" dirty="0">
                <a:solidFill>
                  <a:srgbClr val="FFFFFF"/>
                </a:solidFill>
              </a:rPr>
              <a:t>– FUNCTIONAL MODULES</a:t>
            </a:r>
          </a:p>
        </p:txBody>
      </p:sp>
      <p:sp>
        <p:nvSpPr>
          <p:cNvPr id="66" name="Shape 64"/>
          <p:cNvSpPr/>
          <p:nvPr/>
        </p:nvSpPr>
        <p:spPr>
          <a:xfrm>
            <a:off x="2249424" y="4251960"/>
            <a:ext cx="1299754" cy="64008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A855F7">
                <a:alpha val="4500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249424" y="4251960"/>
            <a:ext cx="129975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 smtClean="0">
                <a:solidFill>
                  <a:srgbClr val="FFFFFF"/>
                </a:solidFill>
              </a:rPr>
              <a:t>Pre and Post onboarding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3640618" y="4251960"/>
            <a:ext cx="1299754" cy="64008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A855F7">
                <a:alpha val="45000"/>
              </a:srgbClr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640618" y="4251960"/>
            <a:ext cx="129975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 smtClean="0">
                <a:solidFill>
                  <a:srgbClr val="FFFFFF"/>
                </a:solidFill>
              </a:rPr>
              <a:t>Wallet and payments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5031813" y="4251960"/>
            <a:ext cx="1299754" cy="64008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A855F7">
                <a:alpha val="45000"/>
              </a:srgbClr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031813" y="4251960"/>
            <a:ext cx="129975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00" dirty="0" smtClean="0">
                <a:solidFill>
                  <a:srgbClr val="FFFFFF"/>
                </a:solidFill>
              </a:rPr>
              <a:t>Community Chatters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6423007" y="4251960"/>
            <a:ext cx="1299754" cy="64008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A855F7">
                <a:alpha val="45000"/>
              </a:srgbClr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423007" y="4251960"/>
            <a:ext cx="129975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 smtClean="0">
                <a:solidFill>
                  <a:srgbClr val="FFFFFF"/>
                </a:solidFill>
              </a:rPr>
              <a:t>Food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7814201" y="4251960"/>
            <a:ext cx="1299754" cy="64008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A855F7">
                <a:alpha val="45000"/>
              </a:srgbClr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814201" y="4251960"/>
            <a:ext cx="129975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Notification Service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9205395" y="4251960"/>
            <a:ext cx="1299754" cy="64008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A855F7">
                <a:alpha val="45000"/>
              </a:srgbClr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9205395" y="4251960"/>
            <a:ext cx="129975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 smtClean="0">
                <a:solidFill>
                  <a:srgbClr val="FFFFFF"/>
                </a:solidFill>
              </a:rPr>
              <a:t>Complaints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10596590" y="4251960"/>
            <a:ext cx="1299754" cy="64008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A855F7">
                <a:alpha val="45000"/>
              </a:srgbClr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10596590" y="4251960"/>
            <a:ext cx="129975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 smtClean="0">
                <a:solidFill>
                  <a:srgbClr val="FFFFFF"/>
                </a:solidFill>
              </a:rPr>
              <a:t>Room Management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228600" y="5102352"/>
            <a:ext cx="1170432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28600" y="5102352"/>
            <a:ext cx="1828800" cy="822960"/>
          </a:xfrm>
          <a:prstGeom prst="rect">
            <a:avLst/>
          </a:prstGeom>
          <a:solidFill>
            <a:srgbClr val="F5A623">
              <a:alpha val="22000"/>
            </a:srgbClr>
          </a:solidFill>
          <a:ln w="12700">
            <a:solidFill>
              <a:srgbClr val="F5A623">
                <a:alpha val="22000"/>
              </a:srgbClr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256032" y="5148072"/>
            <a:ext cx="175564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LAYER </a:t>
            </a:r>
            <a:r>
              <a:rPr lang="en-US" sz="750" b="1" dirty="0" smtClean="0">
                <a:solidFill>
                  <a:srgbClr val="FFFFFF"/>
                </a:solidFill>
              </a:rPr>
              <a:t>4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 smtClean="0">
                <a:solidFill>
                  <a:srgbClr val="FFFFFF"/>
                </a:solidFill>
              </a:rPr>
              <a:t>Integrations and Infrastructure</a:t>
            </a:r>
            <a:endParaRPr lang="en-US" sz="750" dirty="0"/>
          </a:p>
        </p:txBody>
      </p:sp>
      <p:sp>
        <p:nvSpPr>
          <p:cNvPr id="83" name="Shape 81"/>
          <p:cNvSpPr/>
          <p:nvPr/>
        </p:nvSpPr>
        <p:spPr>
          <a:xfrm>
            <a:off x="2249424" y="5193792"/>
            <a:ext cx="1299754" cy="64008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5A623">
                <a:alpha val="45000"/>
              </a:srgbClr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2249424" y="5193792"/>
            <a:ext cx="129975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AWS / GCP Multi-AZ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3640618" y="5193792"/>
            <a:ext cx="1299754" cy="64008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5A623">
                <a:alpha val="45000"/>
              </a:srgbClr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3640618" y="5193792"/>
            <a:ext cx="129975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PostgreSQL + </a:t>
            </a:r>
            <a:r>
              <a:rPr lang="en-US" sz="800" dirty="0" err="1" smtClean="0">
                <a:solidFill>
                  <a:srgbClr val="FFFFFF"/>
                </a:solidFill>
              </a:rPr>
              <a:t>Redis</a:t>
            </a:r>
            <a:r>
              <a:rPr lang="en-US" sz="800" dirty="0" smtClean="0">
                <a:solidFill>
                  <a:srgbClr val="FFFFFF"/>
                </a:solidFill>
              </a:rPr>
              <a:t> + </a:t>
            </a:r>
            <a:r>
              <a:rPr lang="en-US" sz="800" dirty="0" err="1" smtClean="0">
                <a:solidFill>
                  <a:srgbClr val="FFFFFF"/>
                </a:solidFill>
              </a:rPr>
              <a:t>Elasticsearch</a:t>
            </a:r>
            <a:r>
              <a:rPr lang="en-US" sz="800" dirty="0" smtClean="0">
                <a:solidFill>
                  <a:srgbClr val="FFFFFF"/>
                </a:solidFill>
              </a:rPr>
              <a:t> + Mongo DB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5031813" y="5193792"/>
            <a:ext cx="1299754" cy="64008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5A623">
                <a:alpha val="45000"/>
              </a:srgbClr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5031813" y="5193792"/>
            <a:ext cx="129975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00" dirty="0">
                <a:solidFill>
                  <a:srgbClr val="FFFFFF"/>
                </a:solidFill>
              </a:rPr>
              <a:t>DR &amp; </a:t>
            </a:r>
            <a:r>
              <a:rPr lang="en-US" sz="800" dirty="0" smtClean="0">
                <a:solidFill>
                  <a:srgbClr val="FFFFFF"/>
                </a:solidFill>
              </a:rPr>
              <a:t>Backup</a:t>
            </a:r>
            <a:endParaRPr lang="en-US" sz="800" dirty="0"/>
          </a:p>
        </p:txBody>
      </p:sp>
      <p:sp>
        <p:nvSpPr>
          <p:cNvPr id="89" name="Shape 87"/>
          <p:cNvSpPr/>
          <p:nvPr/>
        </p:nvSpPr>
        <p:spPr>
          <a:xfrm>
            <a:off x="6423007" y="5193792"/>
            <a:ext cx="1299754" cy="64008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5A623">
                <a:alpha val="45000"/>
              </a:srgbClr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6423007" y="5193792"/>
            <a:ext cx="129975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00" dirty="0">
                <a:solidFill>
                  <a:srgbClr val="FFFFFF"/>
                </a:solidFill>
              </a:rPr>
              <a:t>Audit </a:t>
            </a:r>
            <a:r>
              <a:rPr lang="en-US" sz="800" dirty="0" smtClean="0">
                <a:solidFill>
                  <a:srgbClr val="FFFFFF"/>
                </a:solidFill>
              </a:rPr>
              <a:t>Logs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>
            <a:off x="7814201" y="5193792"/>
            <a:ext cx="1299754" cy="64008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5A623">
                <a:alpha val="45000"/>
              </a:srgbClr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7814201" y="5193792"/>
            <a:ext cx="129975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 smtClean="0">
                <a:solidFill>
                  <a:srgbClr val="FFFFFF"/>
                </a:solidFill>
              </a:rPr>
              <a:t>Third Party</a:t>
            </a:r>
          </a:p>
          <a:p>
            <a:pPr marL="0" indent="0" algn="ctr">
              <a:buNone/>
            </a:pPr>
            <a:r>
              <a:rPr lang="en-US" sz="800" dirty="0" smtClean="0">
                <a:solidFill>
                  <a:srgbClr val="FFFFFF"/>
                </a:solidFill>
              </a:rPr>
              <a:t>Google, WA , </a:t>
            </a:r>
            <a:r>
              <a:rPr lang="en-US" sz="800" dirty="0" err="1" smtClean="0">
                <a:solidFill>
                  <a:srgbClr val="FFFFFF"/>
                </a:solidFill>
              </a:rPr>
              <a:t>Gupshup</a:t>
            </a:r>
            <a:r>
              <a:rPr lang="en-US" sz="800" dirty="0" smtClean="0">
                <a:solidFill>
                  <a:srgbClr val="FFFFFF"/>
                </a:solidFill>
              </a:rPr>
              <a:t> , </a:t>
            </a:r>
            <a:r>
              <a:rPr lang="en-US" sz="800" dirty="0" err="1" smtClean="0">
                <a:solidFill>
                  <a:srgbClr val="FFFFFF"/>
                </a:solidFill>
              </a:rPr>
              <a:t>DigiLocker</a:t>
            </a:r>
            <a:r>
              <a:rPr lang="en-US" sz="800" dirty="0" smtClean="0">
                <a:solidFill>
                  <a:srgbClr val="FFFFFF"/>
                </a:solidFill>
              </a:rPr>
              <a:t> , </a:t>
            </a:r>
            <a:r>
              <a:rPr lang="en-US" sz="800" dirty="0" err="1" smtClean="0">
                <a:solidFill>
                  <a:srgbClr val="FFFFFF"/>
                </a:solidFill>
              </a:rPr>
              <a:t>DigiSign</a:t>
            </a:r>
            <a:r>
              <a:rPr lang="en-US" sz="800" dirty="0" smtClean="0">
                <a:solidFill>
                  <a:srgbClr val="FFFFFF"/>
                </a:solidFill>
              </a:rPr>
              <a:t> , Property  </a:t>
            </a:r>
            <a:r>
              <a:rPr lang="en-US" sz="800" dirty="0" err="1" smtClean="0">
                <a:solidFill>
                  <a:srgbClr val="FFFFFF"/>
                </a:solidFill>
              </a:rPr>
              <a:t>fintech</a:t>
            </a:r>
            <a:r>
              <a:rPr lang="en-US" sz="800" dirty="0" smtClean="0">
                <a:solidFill>
                  <a:srgbClr val="FFFFFF"/>
                </a:solidFill>
              </a:rPr>
              <a:t> </a:t>
            </a:r>
            <a:r>
              <a:rPr lang="en-US" sz="800" dirty="0" err="1" smtClean="0">
                <a:solidFill>
                  <a:srgbClr val="FFFFFF"/>
                </a:solidFill>
              </a:rPr>
              <a:t>etc</a:t>
            </a:r>
            <a:endParaRPr lang="en-US" sz="800" dirty="0"/>
          </a:p>
        </p:txBody>
      </p:sp>
      <p:sp>
        <p:nvSpPr>
          <p:cNvPr id="93" name="Shape 91"/>
          <p:cNvSpPr/>
          <p:nvPr/>
        </p:nvSpPr>
        <p:spPr>
          <a:xfrm>
            <a:off x="9205395" y="5193792"/>
            <a:ext cx="1299754" cy="64008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5A623">
                <a:alpha val="45000"/>
              </a:srgbClr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9205395" y="5193792"/>
            <a:ext cx="129975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00" dirty="0">
                <a:solidFill>
                  <a:srgbClr val="FFFFFF"/>
                </a:solidFill>
              </a:rPr>
              <a:t>Payment Gateway</a:t>
            </a:r>
            <a:endParaRPr lang="en-US" sz="800" dirty="0"/>
          </a:p>
        </p:txBody>
      </p:sp>
      <p:sp>
        <p:nvSpPr>
          <p:cNvPr id="95" name="Shape 93"/>
          <p:cNvSpPr/>
          <p:nvPr/>
        </p:nvSpPr>
        <p:spPr>
          <a:xfrm>
            <a:off x="10596590" y="5193792"/>
            <a:ext cx="1299754" cy="64008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5A623">
                <a:alpha val="45000"/>
              </a:srgbClr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10596590" y="5193792"/>
            <a:ext cx="129975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00" dirty="0">
                <a:solidFill>
                  <a:srgbClr val="FFFFFF"/>
                </a:solidFill>
              </a:rPr>
              <a:t>Agentic AI </a:t>
            </a:r>
            <a:r>
              <a:rPr lang="en-US" sz="800" dirty="0" smtClean="0">
                <a:solidFill>
                  <a:srgbClr val="FFFFFF"/>
                </a:solidFill>
              </a:rPr>
              <a:t>Service -</a:t>
            </a:r>
          </a:p>
          <a:p>
            <a:pPr algn="ctr"/>
            <a:r>
              <a:rPr lang="en-US" sz="800" dirty="0" smtClean="0">
                <a:solidFill>
                  <a:srgbClr val="FFFFFF"/>
                </a:solidFill>
              </a:rPr>
              <a:t>OCR , Amenities  detection , Analytics </a:t>
            </a:r>
            <a:r>
              <a:rPr lang="en-US" sz="800" dirty="0" err="1" smtClean="0">
                <a:solidFill>
                  <a:srgbClr val="FFFFFF"/>
                </a:solidFill>
              </a:rPr>
              <a:t>etc</a:t>
            </a:r>
            <a:endParaRPr lang="en-US" sz="800" dirty="0"/>
          </a:p>
        </p:txBody>
      </p:sp>
      <p:sp>
        <p:nvSpPr>
          <p:cNvPr id="97" name="Text 95"/>
          <p:cNvSpPr/>
          <p:nvPr/>
        </p:nvSpPr>
        <p:spPr>
          <a:xfrm>
            <a:off x="228600" y="6035040"/>
            <a:ext cx="1170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00C9A7"/>
                </a:solidFill>
              </a:rPr>
              <a:t>↕  All layers communicate via REST APIs &amp; Kafka Event Streams  |  Cloud-Native · Scalable · Globally Secure</a:t>
            </a:r>
            <a:endParaRPr lang="en-US" sz="850" dirty="0"/>
          </a:p>
        </p:txBody>
      </p:sp>
      <p:sp>
        <p:nvSpPr>
          <p:cNvPr id="98" name="Text 96"/>
          <p:cNvSpPr/>
          <p:nvPr/>
        </p:nvSpPr>
        <p:spPr>
          <a:xfrm>
            <a:off x="11430000" y="662940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A8D"/>
                </a:solidFill>
              </a:rPr>
              <a:t>4 / 18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AGENTIC AI — INTELLIGENCE EMBEDDED IN EVERY MODULE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65760" y="694944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0C9A7"/>
                </a:solidFill>
              </a:rPr>
              <a:t>Platform acts proactively, not just reactively — AI agents monitor, decide, and act autonomously within defined guardrails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74320" y="1170432"/>
            <a:ext cx="3749040" cy="2240280"/>
          </a:xfrm>
          <a:prstGeom prst="rect">
            <a:avLst/>
          </a:prstGeom>
          <a:solidFill>
            <a:srgbClr val="1E5799">
              <a:alpha val="82000"/>
            </a:srgbClr>
          </a:solidFill>
          <a:ln w="12700">
            <a:solidFill>
              <a:srgbClr val="1E57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170432"/>
            <a:ext cx="3749040" cy="457200"/>
          </a:xfrm>
          <a:prstGeom prst="rect">
            <a:avLst/>
          </a:prstGeom>
          <a:solidFill>
            <a:srgbClr val="1E5799"/>
          </a:solidFill>
          <a:ln w="12700">
            <a:solidFill>
              <a:srgbClr val="1E57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07008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🎫  Complaint Auto-Resolution Agent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84048" y="1719072"/>
            <a:ext cx="3547872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AI classifies complaint → auto-routes to right staff → monitors SLA → escalates if breached → suggests resolution from knowledge base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206240" y="1170432"/>
            <a:ext cx="3749040" cy="2240280"/>
          </a:xfrm>
          <a:prstGeom prst="rect">
            <a:avLst/>
          </a:prstGeom>
          <a:solidFill>
            <a:srgbClr val="B91C1C">
              <a:alpha val="82000"/>
            </a:srgbClr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06240" y="1170432"/>
            <a:ext cx="3749040" cy="45720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0" y="1207008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📉  Churn Prediction Agent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315968" y="1719072"/>
            <a:ext cx="3547872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Monitors resident engagement signals → flags at-risk residents → triggers personalised retention offers → alerts property manager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138160" y="1170432"/>
            <a:ext cx="3749040" cy="2240280"/>
          </a:xfrm>
          <a:prstGeom prst="rect">
            <a:avLst/>
          </a:prstGeom>
          <a:solidFill>
            <a:srgbClr val="065F46">
              <a:alpha val="82000"/>
            </a:srgbClr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38160" y="1170432"/>
            <a:ext cx="3749040" cy="45720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1207008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🍽️  Kitchen Demand Forecasting Agent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47888" y="1719072"/>
            <a:ext cx="3547872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Analyses consumption patterns, events, occupancy → auto-suggests daily production quantities → reduces food wastage by 30%+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3593592"/>
            <a:ext cx="3749040" cy="2240280"/>
          </a:xfrm>
          <a:prstGeom prst="rect">
            <a:avLst/>
          </a:prstGeom>
          <a:solidFill>
            <a:srgbClr val="B45309">
              <a:alpha val="82000"/>
            </a:srgbClr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3593592"/>
            <a:ext cx="3749040" cy="4572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630168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📦  Procurement Optimisation Agent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84048" y="4142232"/>
            <a:ext cx="3547872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Monitors stock levels → predicts depletion → auto-raises indent → matches best vendor via rate contract → triggers PO approval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206240" y="3593592"/>
            <a:ext cx="3749040" cy="2240280"/>
          </a:xfrm>
          <a:prstGeom prst="rect">
            <a:avLst/>
          </a:prstGeom>
          <a:solidFill>
            <a:srgbClr val="7B2FBE">
              <a:alpha val="82000"/>
            </a:srgbClr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206240" y="3593592"/>
            <a:ext cx="3749040" cy="45720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97680" y="3630168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🎯  Resident Personalisation Agent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315968" y="4142232"/>
            <a:ext cx="3547872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Tracks wallet spend, app usage, meal preferences → recommends room upgrades, add-on services, meal plan bundles — real-time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138160" y="3593592"/>
            <a:ext cx="3749040" cy="2240280"/>
          </a:xfrm>
          <a:prstGeom prst="rect">
            <a:avLst/>
          </a:prstGeom>
          <a:solidFill>
            <a:srgbClr val="006B5F">
              <a:alpha val="82000"/>
            </a:srgbClr>
          </a:solidFill>
          <a:ln w="12700">
            <a:solidFill>
              <a:srgbClr val="006B5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38160" y="3593592"/>
            <a:ext cx="3749040" cy="457200"/>
          </a:xfrm>
          <a:prstGeom prst="rect">
            <a:avLst/>
          </a:prstGeom>
          <a:solidFill>
            <a:srgbClr val="006B5F"/>
          </a:solidFill>
          <a:ln w="12700">
            <a:solidFill>
              <a:srgbClr val="006B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0" y="3630168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🔐  Anomaly &amp; Fraud Detection Agent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247888" y="4142232"/>
            <a:ext cx="3547872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Monitors wallet transactions, login patterns, access logs → detects suspicious activity → auto-blocks + alerts compliance team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1430000" y="662940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A8D"/>
                </a:solidFill>
              </a:rPr>
              <a:t>7 / 18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9144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FFFFFF"/>
                </a:solidFill>
              </a:rPr>
              <a:t>DIGITAL WALLET - VALUE </a:t>
            </a:r>
            <a:r>
              <a:rPr lang="en-US" sz="2000" b="1" dirty="0" smtClean="0">
                <a:solidFill>
                  <a:srgbClr val="FFFFFF"/>
                </a:solidFill>
              </a:rPr>
              <a:t>PROPOSITION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601200" y="16459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00C9A7"/>
                </a:solidFill>
              </a:rPr>
              <a:t>Embedded Fintech | Resident-First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4389120" cy="55778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-731520" y="-457200"/>
            <a:ext cx="3657600" cy="365760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18872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000000"/>
                </a:solidFill>
              </a:rPr>
              <a:t>💳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457200" y="224028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UNILIV WALLET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27432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D0F5EF"/>
                </a:solidFill>
              </a:rPr>
              <a:t>Embedded inside Resident App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246120"/>
            <a:ext cx="3931920" cy="365760"/>
          </a:xfrm>
          <a:prstGeom prst="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273552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✓  Rent &amp; Security Deposit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3685032"/>
            <a:ext cx="3931920" cy="365760"/>
          </a:xfrm>
          <a:prstGeom prst="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712464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✓  Daily Food &amp; Canteen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4123944"/>
            <a:ext cx="3931920" cy="365760"/>
          </a:xfrm>
          <a:prstGeom prst="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4151376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✓  Laundry Services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4562856"/>
            <a:ext cx="3931920" cy="365760"/>
          </a:xfrm>
          <a:prstGeom prst="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4590288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✓  Maintenance Requests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5001768"/>
            <a:ext cx="3931920" cy="365760"/>
          </a:xfrm>
          <a:prstGeom prst="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5029200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✓  Campus Merchandise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5440680"/>
            <a:ext cx="3931920" cy="365760"/>
          </a:xfrm>
          <a:prstGeom prst="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5468112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✓  Guest Entry Fees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5879592"/>
            <a:ext cx="3931920" cy="365760"/>
          </a:xfrm>
          <a:prstGeom prst="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5907024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✓  Event Bookings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937760" y="914400"/>
            <a:ext cx="3383280" cy="5577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937760" y="914400"/>
            <a:ext cx="3383280" cy="4572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74920" y="932688"/>
            <a:ext cx="3200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🏢  UNILIV BENEFITS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102352" y="1618488"/>
            <a:ext cx="274320" cy="274320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93208" y="1591056"/>
            <a:ext cx="2926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💰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68112" y="1527048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</a:rPr>
              <a:t>Ancillary Revenue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68112" y="1783080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8D"/>
                </a:solidFill>
              </a:rPr>
              <a:t>Wallet MDR + convenience fees on every transaction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102352" y="2217420"/>
            <a:ext cx="274320" cy="274320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93208" y="2189988"/>
            <a:ext cx="2926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🏦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468112" y="2125980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</a:rPr>
              <a:t>Interest-Free Float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468112" y="2382012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8D"/>
                </a:solidFill>
              </a:rPr>
              <a:t>Wallet top-ups sit with Uniliv from Day 1 — free float capital, zero interest cost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102352" y="2816352"/>
            <a:ext cx="274320" cy="274320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93208" y="2788920"/>
            <a:ext cx="2926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📊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468112" y="2724912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</a:rPr>
              <a:t>Full Financial Visibility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468112" y="298094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8D"/>
                </a:solidFill>
              </a:rPr>
              <a:t>Real-time ledger per resident; zero revenue leakage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102352" y="3415284"/>
            <a:ext cx="274320" cy="274320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93208" y="3387852"/>
            <a:ext cx="2926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⚡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468112" y="3323844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</a:rPr>
              <a:t>Faster Collections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468112" y="3579876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8D"/>
                </a:solidFill>
              </a:rPr>
              <a:t>Rent auto-debit on due date; no manual follow-up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102352" y="4014216"/>
            <a:ext cx="274320" cy="274320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93208" y="3986784"/>
            <a:ext cx="2926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📈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468112" y="3922776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</a:rPr>
              <a:t>Data Goldmine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468112" y="4178808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8D"/>
                </a:solidFill>
              </a:rPr>
              <a:t>Spending patterns fuel AI recommendations &amp; upsell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5102352" y="4613148"/>
            <a:ext cx="274320" cy="274320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93208" y="4585716"/>
            <a:ext cx="2926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🔄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468112" y="4521708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</a:rPr>
              <a:t>Reduced Ops Cost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468112" y="4777740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8D"/>
                </a:solidFill>
              </a:rPr>
              <a:t>Cashless operations — no manual cash handling or reconciliation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5102352" y="5212080"/>
            <a:ext cx="274320" cy="274320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093208" y="5184648"/>
            <a:ext cx="2926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🔒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468112" y="5120640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</a:rPr>
              <a:t>Compliance Ready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5468112" y="5376672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8D"/>
                </a:solidFill>
              </a:rPr>
              <a:t>Full audit trail; compliant with RBI prepaid wallet norms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8595360" y="914400"/>
            <a:ext cx="3337560" cy="5577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8595360" y="914400"/>
            <a:ext cx="3337560" cy="4572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732520" y="932688"/>
            <a:ext cx="3108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👨‍🎓  RESIDENT BENEFITS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8759952" y="1618488"/>
            <a:ext cx="274320" cy="27432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750808" y="1591056"/>
            <a:ext cx="2926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🤳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9125712" y="152704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</a:rPr>
              <a:t>One App, All Payments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9125712" y="178308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8D"/>
                </a:solidFill>
              </a:rPr>
              <a:t>Single wallet for every service — no multiple apps or cash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8759952" y="2331720"/>
            <a:ext cx="274320" cy="27432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750808" y="2304288"/>
            <a:ext cx="2926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👀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9125712" y="224028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</a:rPr>
              <a:t>Full Spend Visibility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9125712" y="249631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8D"/>
                </a:solidFill>
              </a:rPr>
              <a:t>Monthly spend reports; parents can view summary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8759952" y="3044952"/>
            <a:ext cx="274320" cy="27432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750808" y="3017520"/>
            <a:ext cx="2926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🔔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9125712" y="295351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</a:rPr>
              <a:t>Smart Alerts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9125712" y="3209544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8D"/>
                </a:solidFill>
              </a:rPr>
              <a:t>Low balance alerts, payment confirmations, auto receipts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8759952" y="3758184"/>
            <a:ext cx="274320" cy="27432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750808" y="3730752"/>
            <a:ext cx="2926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🎁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9125712" y="3666744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</a:rPr>
              <a:t>Loyalty &amp; Rewards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9125712" y="3922776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8D"/>
                </a:solidFill>
              </a:rPr>
              <a:t>Earn points on wallet spend; redeem for meals or services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8759952" y="4471416"/>
            <a:ext cx="274320" cy="27432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8750808" y="4443984"/>
            <a:ext cx="2926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🛡️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9125712" y="4379976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</a:rPr>
              <a:t>Secure Transactions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9125712" y="463600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8D"/>
                </a:solidFill>
              </a:rPr>
              <a:t>OTP + biometric auth on all wallet transactions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8759952" y="5184648"/>
            <a:ext cx="274320" cy="27432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750808" y="5157216"/>
            <a:ext cx="2926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📤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9125712" y="509320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</a:rPr>
              <a:t>Instant Refunds</a:t>
            </a:r>
            <a:endParaRPr lang="en-US" sz="1100" dirty="0"/>
          </a:p>
        </p:txBody>
      </p:sp>
      <p:sp>
        <p:nvSpPr>
          <p:cNvPr id="81" name="Text 79"/>
          <p:cNvSpPr/>
          <p:nvPr/>
        </p:nvSpPr>
        <p:spPr>
          <a:xfrm>
            <a:off x="9125712" y="534924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8D"/>
                </a:solidFill>
              </a:rPr>
              <a:t>Service cancellations refunded to wallet in seconds</a:t>
            </a:r>
            <a:endParaRPr lang="en-US" sz="950" dirty="0"/>
          </a:p>
        </p:txBody>
      </p:sp>
      <p:sp>
        <p:nvSpPr>
          <p:cNvPr id="82" name="Text 80"/>
          <p:cNvSpPr/>
          <p:nvPr/>
        </p:nvSpPr>
        <p:spPr>
          <a:xfrm>
            <a:off x="11430000" y="662940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A8D"/>
                </a:solidFill>
              </a:rPr>
              <a:t>8 / 18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9144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PARTNERSHIP MODEL — UNILIV + ENACREATIONS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601200" y="16459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00C9A7"/>
                </a:solidFill>
              </a:rPr>
              <a:t>Domain × Tech = Category Leader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539496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14400"/>
            <a:ext cx="5394960" cy="594360"/>
          </a:xfrm>
          <a:prstGeom prst="rect">
            <a:avLst/>
          </a:prstGeom>
          <a:solidFill>
            <a:srgbClr val="0E7FC0"/>
          </a:solidFill>
          <a:ln w="12700">
            <a:solidFill>
              <a:srgbClr val="0E7F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32688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🏠  UNILIV </a:t>
            </a:r>
            <a:r>
              <a:rPr lang="en-US" sz="1600" b="1" dirty="0" smtClean="0">
                <a:solidFill>
                  <a:srgbClr val="FFFFFF"/>
                </a:solidFill>
              </a:rPr>
              <a:t>BRINGS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773936"/>
            <a:ext cx="182880" cy="182880"/>
          </a:xfrm>
          <a:prstGeom prst="ellipse">
            <a:avLst/>
          </a:prstGeom>
          <a:solidFill>
            <a:srgbClr val="0E7FC0"/>
          </a:solidFill>
          <a:ln w="12700">
            <a:solidFill>
              <a:srgbClr val="0E7F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1645920"/>
            <a:ext cx="4791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3A5C"/>
                </a:solidFill>
              </a:rPr>
              <a:t>Deep domain expertise in co-living operations across India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276856"/>
            <a:ext cx="182880" cy="182880"/>
          </a:xfrm>
          <a:prstGeom prst="ellipse">
            <a:avLst/>
          </a:prstGeom>
          <a:solidFill>
            <a:srgbClr val="0E7FC0"/>
          </a:solidFill>
          <a:ln w="12700">
            <a:solidFill>
              <a:srgbClr val="0E7F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2148840"/>
            <a:ext cx="4791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3A5C"/>
                </a:solidFill>
              </a:rPr>
              <a:t>Existing resident &amp; property relationships across multiple cities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2779776"/>
            <a:ext cx="182880" cy="182880"/>
          </a:xfrm>
          <a:prstGeom prst="ellipse">
            <a:avLst/>
          </a:prstGeom>
          <a:solidFill>
            <a:srgbClr val="0E7FC0"/>
          </a:solidFill>
          <a:ln w="12700">
            <a:solidFill>
              <a:srgbClr val="0E7F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2651760"/>
            <a:ext cx="4791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3A5C"/>
                </a:solidFill>
              </a:rPr>
              <a:t>Business workflows, SOPs, and operational knowledge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282696"/>
            <a:ext cx="182880" cy="182880"/>
          </a:xfrm>
          <a:prstGeom prst="ellipse">
            <a:avLst/>
          </a:prstGeom>
          <a:solidFill>
            <a:srgbClr val="0E7FC0"/>
          </a:solidFill>
          <a:ln w="12700">
            <a:solidFill>
              <a:srgbClr val="0E7F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3154680"/>
            <a:ext cx="4791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3A5C"/>
                </a:solidFill>
              </a:rPr>
              <a:t>Clear product vision, user personas, and acceptance criteria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3785616"/>
            <a:ext cx="182880" cy="182880"/>
          </a:xfrm>
          <a:prstGeom prst="ellipse">
            <a:avLst/>
          </a:prstGeom>
          <a:solidFill>
            <a:srgbClr val="0E7FC0"/>
          </a:solidFill>
          <a:ln w="12700">
            <a:solidFill>
              <a:srgbClr val="0E7F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3657600"/>
            <a:ext cx="4791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3A5C"/>
                </a:solidFill>
              </a:rPr>
              <a:t>Sales &amp; marketing strategy for resident acquisition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4288536"/>
            <a:ext cx="182880" cy="182880"/>
          </a:xfrm>
          <a:prstGeom prst="ellipse">
            <a:avLst/>
          </a:prstGeom>
          <a:solidFill>
            <a:srgbClr val="0E7FC0"/>
          </a:solidFill>
          <a:ln w="12700">
            <a:solidFill>
              <a:srgbClr val="0E7F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4160520"/>
            <a:ext cx="4791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3A5C"/>
                </a:solidFill>
              </a:rPr>
              <a:t>Regulatory knowledge — RBI wallet, local compliance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4791456"/>
            <a:ext cx="182880" cy="182880"/>
          </a:xfrm>
          <a:prstGeom prst="ellipse">
            <a:avLst/>
          </a:prstGeom>
          <a:solidFill>
            <a:srgbClr val="0E7FC0"/>
          </a:solidFill>
          <a:ln w="12700">
            <a:solidFill>
              <a:srgbClr val="0E7F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" y="4663440"/>
            <a:ext cx="4791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3A5C"/>
                </a:solidFill>
              </a:rPr>
              <a:t>Design thinking from real resident and staff feedback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806440" y="3017520"/>
            <a:ext cx="548640" cy="54864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06440" y="3017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1B2A"/>
                </a:solidFill>
              </a:rPr>
              <a:t>×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6492240" y="914400"/>
            <a:ext cx="539496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92240" y="914400"/>
            <a:ext cx="5394960" cy="59436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75120" y="932688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</a:rPr>
              <a:t>💻  </a:t>
            </a:r>
            <a:r>
              <a:rPr lang="en-US" sz="1600" b="1" dirty="0" smtClean="0">
                <a:solidFill>
                  <a:srgbClr val="0D1B2A"/>
                </a:solidFill>
              </a:rPr>
              <a:t>ENAACREATIONS </a:t>
            </a:r>
            <a:r>
              <a:rPr lang="en-US" sz="1600" b="1" dirty="0">
                <a:solidFill>
                  <a:srgbClr val="0D1B2A"/>
                </a:solidFill>
              </a:rPr>
              <a:t>DELIVERS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675120" y="1773936"/>
            <a:ext cx="182880" cy="18288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67728" y="1645920"/>
            <a:ext cx="4791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3A5C"/>
                </a:solidFill>
              </a:rPr>
              <a:t>Full-stack development — React, React Native, Java, Python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675120" y="2276856"/>
            <a:ext cx="182880" cy="18288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67728" y="2148840"/>
            <a:ext cx="4791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3A5C"/>
                </a:solidFill>
              </a:rPr>
              <a:t>Cloud-native microservices architecture design &amp; build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675120" y="2779776"/>
            <a:ext cx="182880" cy="18288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67728" y="2651760"/>
            <a:ext cx="4791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3A5C"/>
                </a:solidFill>
              </a:rPr>
              <a:t>Agentic AI and behavioural analytics integration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675120" y="3282696"/>
            <a:ext cx="182880" cy="18288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67728" y="3154680"/>
            <a:ext cx="4791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50" dirty="0" smtClean="0">
                <a:solidFill>
                  <a:srgbClr val="1A3A5C"/>
                </a:solidFill>
              </a:rPr>
              <a:t>Data </a:t>
            </a:r>
            <a:r>
              <a:rPr lang="en-US" sz="1150" dirty="0">
                <a:solidFill>
                  <a:srgbClr val="1A3A5C"/>
                </a:solidFill>
              </a:rPr>
              <a:t>analytics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675120" y="3785616"/>
            <a:ext cx="182880" cy="18288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67728" y="3657600"/>
            <a:ext cx="4791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3A5C"/>
                </a:solidFill>
              </a:rPr>
              <a:t>UI/UX design systems — mobile, web, responsive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675120" y="4288536"/>
            <a:ext cx="182880" cy="18288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67728" y="4160520"/>
            <a:ext cx="4791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3A5C"/>
                </a:solidFill>
              </a:rPr>
              <a:t>Post-launch support, SLAs and platform evolution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675120" y="4791456"/>
            <a:ext cx="182880" cy="18288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967728" y="4663440"/>
            <a:ext cx="4791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3A5C"/>
                </a:solidFill>
              </a:rPr>
              <a:t>Scalable </a:t>
            </a:r>
            <a:r>
              <a:rPr lang="en-US" sz="1150" dirty="0" smtClean="0">
                <a:solidFill>
                  <a:srgbClr val="1A3A5C"/>
                </a:solidFill>
              </a:rPr>
              <a:t>architecture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274320" y="6080760"/>
            <a:ext cx="11612880" cy="5486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6099048"/>
            <a:ext cx="11247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C9A7"/>
                </a:solidFill>
              </a:rPr>
              <a:t>Together: A Data-Driven, Resident-First Digital Platform enabling residents and employees to manage and control their respective functionalities.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1430000" y="662940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A8D"/>
                </a:solidFill>
              </a:rPr>
              <a:t>15 / 18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1052</Words>
  <Application>Microsoft Office PowerPoint</Application>
  <PresentationFormat>Custom</PresentationFormat>
  <Paragraphs>200</Paragraphs>
  <Slides>6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UNILIV – Unified Digital Platform</dc:title>
  <dc:subject>PptxGenJS Presentation</dc:subject>
  <dc:creator>PptxGenJS</dc:creator>
  <cp:lastModifiedBy>Abc</cp:lastModifiedBy>
  <cp:revision>5</cp:revision>
  <dcterms:created xsi:type="dcterms:W3CDTF">2026-04-25T05:33:33Z</dcterms:created>
  <dcterms:modified xsi:type="dcterms:W3CDTF">2026-04-25T06:12:16Z</dcterms:modified>
</cp:coreProperties>
</file>